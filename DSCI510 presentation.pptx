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sldIdLst>
    <p:sldId id="256" r:id="rId2"/>
    <p:sldId id="263" r:id="rId3"/>
    <p:sldId id="258" r:id="rId4"/>
    <p:sldId id="259" r:id="rId5"/>
    <p:sldId id="260" r:id="rId6"/>
    <p:sldId id="261" r:id="rId7"/>
    <p:sldId id="265" r:id="rId8"/>
    <p:sldId id="262" r:id="rId9"/>
    <p:sldId id="264" r:id="rId10"/>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46"/>
  </p:normalViewPr>
  <p:slideViewPr>
    <p:cSldViewPr snapToGrid="0">
      <p:cViewPr varScale="1">
        <p:scale>
          <a:sx n="91" d="100"/>
          <a:sy n="91" d="100"/>
        </p:scale>
        <p:origin x="192" y="5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11/25/25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21446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11/25/25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7757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11/25/25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82332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11/25/25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3486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11/25/25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337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11/25/25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54549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11/25/25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51193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11/25/25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15950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11/25/25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06774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11/25/25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2342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11/25/25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41910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11/25/25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374883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Colorful leaf patterns">
            <a:extLst>
              <a:ext uri="{FF2B5EF4-FFF2-40B4-BE49-F238E27FC236}">
                <a16:creationId xmlns:a16="http://schemas.microsoft.com/office/drawing/2014/main" id="{A3EB8051-971F-D8C2-1E01-2B75962797D8}"/>
              </a:ext>
            </a:extLst>
          </p:cNvPr>
          <p:cNvPicPr>
            <a:picLocks noChangeAspect="1"/>
          </p:cNvPicPr>
          <p:nvPr/>
        </p:nvPicPr>
        <p:blipFill>
          <a:blip r:embed="rId2"/>
          <a:srcRect t="19688" r="8342" b="6658"/>
          <a:stretch>
            <a:fillRect/>
          </a:stretch>
        </p:blipFill>
        <p:spPr>
          <a:xfrm>
            <a:off x="20" y="-196938"/>
            <a:ext cx="12191980" cy="7054938"/>
          </a:xfrm>
          <a:prstGeom prst="rect">
            <a:avLst/>
          </a:prstGeom>
        </p:spPr>
      </p:pic>
      <p:sp>
        <p:nvSpPr>
          <p:cNvPr id="18" name="Rectangle 17">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0"/>
            <a:ext cx="12191999" cy="13716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82D74C5C-2975-B074-0ED2-9BB73EABB498}"/>
              </a:ext>
            </a:extLst>
          </p:cNvPr>
          <p:cNvSpPr>
            <a:spLocks noGrp="1"/>
          </p:cNvSpPr>
          <p:nvPr>
            <p:ph type="ctrTitle"/>
          </p:nvPr>
        </p:nvSpPr>
        <p:spPr>
          <a:xfrm>
            <a:off x="390380" y="1853424"/>
            <a:ext cx="6981091" cy="2356338"/>
          </a:xfrm>
          <a:ln>
            <a:noFill/>
          </a:ln>
        </p:spPr>
        <p:txBody>
          <a:bodyPr anchor="ctr">
            <a:normAutofit fontScale="90000"/>
          </a:bodyPr>
          <a:lstStyle/>
          <a:p>
            <a:r>
              <a:rPr lang="en-CN" sz="4000" dirty="0"/>
              <a:t>Analyzing the Factors Influencing Restaurant Ratings in Los Angeles</a:t>
            </a:r>
            <a:br>
              <a:rPr lang="en-CN" dirty="0"/>
            </a:br>
            <a:endParaRPr lang="en-CN" sz="3600" dirty="0"/>
          </a:p>
        </p:txBody>
      </p:sp>
      <p:sp>
        <p:nvSpPr>
          <p:cNvPr id="3" name="Subtitle 2">
            <a:extLst>
              <a:ext uri="{FF2B5EF4-FFF2-40B4-BE49-F238E27FC236}">
                <a16:creationId xmlns:a16="http://schemas.microsoft.com/office/drawing/2014/main" id="{74488B06-2EF5-8790-858B-A09B60C1134E}"/>
              </a:ext>
            </a:extLst>
          </p:cNvPr>
          <p:cNvSpPr>
            <a:spLocks noGrp="1"/>
          </p:cNvSpPr>
          <p:nvPr>
            <p:ph type="subTitle" idx="1"/>
          </p:nvPr>
        </p:nvSpPr>
        <p:spPr>
          <a:xfrm>
            <a:off x="8347585" y="5715000"/>
            <a:ext cx="3630168" cy="960120"/>
          </a:xfrm>
        </p:spPr>
        <p:txBody>
          <a:bodyPr anchor="ctr">
            <a:normAutofit/>
          </a:bodyPr>
          <a:lstStyle/>
          <a:p>
            <a:pPr algn="r"/>
            <a:r>
              <a:rPr lang="en-CN" sz="1800" dirty="0"/>
              <a:t>Lauren Yu</a:t>
            </a:r>
          </a:p>
        </p:txBody>
      </p:sp>
      <p:pic>
        <p:nvPicPr>
          <p:cNvPr id="5" name="Picture 4">
            <a:extLst>
              <a:ext uri="{FF2B5EF4-FFF2-40B4-BE49-F238E27FC236}">
                <a16:creationId xmlns:a16="http://schemas.microsoft.com/office/drawing/2014/main" id="{D3B64601-41A0-5993-DD2C-12EAE1D33F50}"/>
              </a:ext>
            </a:extLst>
          </p:cNvPr>
          <p:cNvPicPr>
            <a:picLocks noChangeAspect="1"/>
          </p:cNvPicPr>
          <p:nvPr/>
        </p:nvPicPr>
        <p:blipFill>
          <a:blip r:embed="rId3"/>
          <a:stretch>
            <a:fillRect/>
          </a:stretch>
        </p:blipFill>
        <p:spPr>
          <a:xfrm>
            <a:off x="6276235" y="-7167"/>
            <a:ext cx="5132663" cy="5363497"/>
          </a:xfrm>
          <a:prstGeom prst="rect">
            <a:avLst/>
          </a:prstGeom>
        </p:spPr>
      </p:pic>
    </p:spTree>
    <p:extLst>
      <p:ext uri="{BB962C8B-B14F-4D97-AF65-F5344CB8AC3E}">
        <p14:creationId xmlns:p14="http://schemas.microsoft.com/office/powerpoint/2010/main" val="525502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CEA32F-385C-EE8A-83BC-76AD9B8501F9}"/>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D2F50F06-655F-16B7-9F0E-D100C6235E6A}"/>
              </a:ext>
            </a:extLst>
          </p:cNvPr>
          <p:cNvSpPr>
            <a:spLocks noGrp="1"/>
          </p:cNvSpPr>
          <p:nvPr>
            <p:ph type="ctrTitle"/>
          </p:nvPr>
        </p:nvSpPr>
        <p:spPr>
          <a:xfrm>
            <a:off x="703400" y="871758"/>
            <a:ext cx="5227171" cy="3871143"/>
          </a:xfrm>
        </p:spPr>
        <p:txBody>
          <a:bodyPr>
            <a:normAutofit/>
          </a:bodyPr>
          <a:lstStyle/>
          <a:p>
            <a:r>
              <a:rPr lang="en-US" dirty="0"/>
              <a:t>INTRODUCTION</a:t>
            </a:r>
            <a:endParaRPr lang="en-CN"/>
          </a:p>
        </p:txBody>
      </p:sp>
      <p:cxnSp>
        <p:nvCxnSpPr>
          <p:cNvPr id="13" name="Straight Connector 12">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Colorful leaf patterns">
            <a:extLst>
              <a:ext uri="{FF2B5EF4-FFF2-40B4-BE49-F238E27FC236}">
                <a16:creationId xmlns:a16="http://schemas.microsoft.com/office/drawing/2014/main" id="{0A72B411-7B1D-4AFE-41B3-3406F7912D9F}"/>
              </a:ext>
            </a:extLst>
          </p:cNvPr>
          <p:cNvPicPr>
            <a:picLocks noChangeAspect="1"/>
          </p:cNvPicPr>
          <p:nvPr/>
        </p:nvPicPr>
        <p:blipFill>
          <a:blip r:embed="rId2"/>
          <a:srcRect l="17362" r="24694" b="1"/>
          <a:stretch>
            <a:fillRect/>
          </a:stretch>
        </p:blipFill>
        <p:spPr>
          <a:xfrm>
            <a:off x="6515100" y="10"/>
            <a:ext cx="5676900" cy="6857990"/>
          </a:xfrm>
          <a:prstGeom prst="rect">
            <a:avLst/>
          </a:prstGeom>
        </p:spPr>
      </p:pic>
      <p:sp>
        <p:nvSpPr>
          <p:cNvPr id="8" name="Rectangle 3">
            <a:extLst>
              <a:ext uri="{FF2B5EF4-FFF2-40B4-BE49-F238E27FC236}">
                <a16:creationId xmlns:a16="http://schemas.microsoft.com/office/drawing/2014/main" id="{5595D9CF-C3BC-3FA5-5946-40C89242EB2C}"/>
              </a:ext>
            </a:extLst>
          </p:cNvPr>
          <p:cNvSpPr>
            <a:spLocks noChangeArrowheads="1"/>
          </p:cNvSpPr>
          <p:nvPr/>
        </p:nvSpPr>
        <p:spPr bwMode="auto">
          <a:xfrm>
            <a:off x="373798" y="1759295"/>
            <a:ext cx="604894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CN" altLang="en-CN" sz="1800" b="0" i="0" u="none" strike="noStrike" cap="none" normalizeH="0" baseline="0" dirty="0">
                <a:ln>
                  <a:noFill/>
                </a:ln>
                <a:solidFill>
                  <a:schemeClr val="tx1"/>
                </a:solidFill>
                <a:effectLst/>
                <a:latin typeface="Arial" panose="020B0604020202020204" pitchFamily="34" charset="0"/>
              </a:rPr>
              <a:t>Goal: </a:t>
            </a:r>
            <a:r>
              <a:rPr kumimoji="0" lang="en-CN" altLang="en-CN" sz="1800" b="1" i="0" u="none" strike="noStrike" cap="none" normalizeH="0" baseline="0" dirty="0">
                <a:ln>
                  <a:noFill/>
                </a:ln>
                <a:solidFill>
                  <a:schemeClr val="tx1"/>
                </a:solidFill>
                <a:effectLst/>
                <a:latin typeface="Arial" panose="020B0604020202020204" pitchFamily="34" charset="0"/>
              </a:rPr>
              <a:t>Identify what factors influence restaurant ratings across Los Angeles</a:t>
            </a:r>
            <a:r>
              <a:rPr kumimoji="0" lang="en-CN" altLang="en-CN"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CN" altLang="en-CN" sz="1800" b="0" i="0" u="none" strike="noStrike" cap="none" normalizeH="0" baseline="0" dirty="0">
                <a:ln>
                  <a:noFill/>
                </a:ln>
                <a:solidFill>
                  <a:schemeClr val="tx1"/>
                </a:solidFill>
                <a:effectLst/>
                <a:latin typeface="Arial" panose="020B0604020202020204" pitchFamily="34" charset="0"/>
              </a:rPr>
              <a:t>Methods:</a:t>
            </a:r>
          </a:p>
          <a:p>
            <a:pPr marL="742950" lvl="1" indent="-285750" eaLnBrk="0" fontAlgn="base" hangingPunct="0">
              <a:spcBef>
                <a:spcPct val="0"/>
              </a:spcBef>
              <a:spcAft>
                <a:spcPct val="0"/>
              </a:spcAft>
              <a:buFont typeface="Arial" panose="020B0604020202020204" pitchFamily="34" charset="0"/>
              <a:buChar char="•"/>
            </a:pPr>
            <a:r>
              <a:rPr kumimoji="0" lang="en-CN" altLang="en-CN" b="0" i="0" u="none" strike="noStrike" cap="none" normalizeH="0" baseline="0" dirty="0">
                <a:ln>
                  <a:noFill/>
                </a:ln>
                <a:solidFill>
                  <a:schemeClr val="tx1"/>
                </a:solidFill>
                <a:effectLst/>
                <a:latin typeface="Arial" panose="020B0604020202020204" pitchFamily="34" charset="0"/>
              </a:rPr>
              <a:t>Cleaned + merged using </a:t>
            </a:r>
            <a:r>
              <a:rPr kumimoji="0" lang="en-CN" altLang="en-CN" b="1" i="0" u="none" strike="noStrike" cap="none" normalizeH="0" baseline="0" dirty="0">
                <a:ln>
                  <a:noFill/>
                </a:ln>
                <a:solidFill>
                  <a:schemeClr val="tx1"/>
                </a:solidFill>
                <a:effectLst/>
                <a:latin typeface="Arial" panose="020B0604020202020204" pitchFamily="34" charset="0"/>
              </a:rPr>
              <a:t>coordinates and ZIP codes</a:t>
            </a:r>
            <a:endParaRPr kumimoji="0" lang="en-CN" altLang="en-CN"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CN" altLang="en-CN" b="1" i="0" u="none" strike="noStrike" cap="none" normalizeH="0" baseline="0" dirty="0">
                <a:ln>
                  <a:noFill/>
                </a:ln>
                <a:solidFill>
                  <a:schemeClr val="tx1"/>
                </a:solidFill>
                <a:effectLst/>
                <a:latin typeface="Arial" panose="020B0604020202020204" pitchFamily="34" charset="0"/>
              </a:rPr>
              <a:t>Exploratory analysis</a:t>
            </a:r>
            <a:r>
              <a:rPr kumimoji="0" lang="en-CN" altLang="en-CN" b="0" i="0" u="none" strike="noStrike" cap="none" normalizeH="0" baseline="0" dirty="0">
                <a:ln>
                  <a:noFill/>
                </a:ln>
                <a:solidFill>
                  <a:schemeClr val="tx1"/>
                </a:solidFill>
                <a:effectLst/>
                <a:latin typeface="Arial" panose="020B0604020202020204" pitchFamily="34" charset="0"/>
              </a:rPr>
              <a:t> of ratings by cuisine, neighborhood, and demographics</a:t>
            </a:r>
          </a:p>
          <a:p>
            <a:pPr marL="742950" lvl="1" indent="-285750" eaLnBrk="0" fontAlgn="base" hangingPunct="0">
              <a:spcBef>
                <a:spcPct val="0"/>
              </a:spcBef>
              <a:spcAft>
                <a:spcPct val="0"/>
              </a:spcAft>
              <a:buFont typeface="Arial" panose="020B0604020202020204" pitchFamily="34" charset="0"/>
              <a:buChar char="•"/>
            </a:pPr>
            <a:r>
              <a:rPr kumimoji="0" lang="en-CN" altLang="en-CN" b="1" i="0" u="none" strike="noStrike" cap="none" normalizeH="0" baseline="0" dirty="0">
                <a:ln>
                  <a:noFill/>
                </a:ln>
                <a:solidFill>
                  <a:schemeClr val="tx1"/>
                </a:solidFill>
                <a:effectLst/>
                <a:latin typeface="Arial" panose="020B0604020202020204" pitchFamily="34" charset="0"/>
              </a:rPr>
              <a:t>Correlation + feature importance</a:t>
            </a:r>
            <a:r>
              <a:rPr kumimoji="0" lang="en-CN" altLang="en-CN" b="0" i="0" u="none" strike="noStrike" cap="none" normalizeH="0" baseline="0" dirty="0">
                <a:ln>
                  <a:noFill/>
                </a:ln>
                <a:solidFill>
                  <a:schemeClr val="tx1"/>
                </a:solidFill>
                <a:effectLst/>
                <a:latin typeface="Arial" panose="020B0604020202020204" pitchFamily="34" charset="0"/>
              </a:rPr>
              <a:t> to find key predictors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CN" altLang="en-CN" sz="1800" b="1" i="0" u="none" strike="noStrike" cap="none" normalizeH="0" baseline="0" dirty="0">
                <a:ln>
                  <a:noFill/>
                </a:ln>
                <a:solidFill>
                  <a:schemeClr val="tx1"/>
                </a:solidFill>
                <a:effectLst/>
                <a:latin typeface="Arial" panose="020B0604020202020204" pitchFamily="34" charset="0"/>
              </a:rPr>
              <a:t>Models:</a:t>
            </a:r>
            <a:r>
              <a:rPr kumimoji="0" lang="en-CN" altLang="en-CN" sz="1800" b="0" i="0" u="none" strike="noStrike" cap="none" normalizeH="0" baseline="0" dirty="0">
                <a:ln>
                  <a:noFill/>
                </a:ln>
                <a:solidFill>
                  <a:schemeClr val="tx1"/>
                </a:solidFill>
                <a:effectLst/>
                <a:latin typeface="Arial" panose="020B0604020202020204" pitchFamily="34" charset="0"/>
              </a:rPr>
              <a:t> Multiple Linear Regression &amp; Random Forest using price level, review volume, cuisine type, and demographic factors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CN" altLang="en-CN" sz="1800" b="0" i="0" u="none" strike="noStrike" cap="none" normalizeH="0" baseline="0" dirty="0">
                <a:ln>
                  <a:noFill/>
                </a:ln>
                <a:solidFill>
                  <a:schemeClr val="tx1"/>
                </a:solidFill>
                <a:effectLst/>
                <a:latin typeface="Arial" panose="020B0604020202020204" pitchFamily="34" charset="0"/>
              </a:rPr>
              <a:t>Purpose: Understand how </a:t>
            </a:r>
            <a:r>
              <a:rPr kumimoji="0" lang="en-CN" altLang="en-CN" sz="1800" b="1" i="0" u="none" strike="noStrike" cap="none" normalizeH="0" baseline="0" dirty="0">
                <a:ln>
                  <a:noFill/>
                </a:ln>
                <a:solidFill>
                  <a:schemeClr val="tx1"/>
                </a:solidFill>
                <a:effectLst/>
                <a:latin typeface="Arial" panose="020B0604020202020204" pitchFamily="34" charset="0"/>
              </a:rPr>
              <a:t>community characteristics</a:t>
            </a:r>
            <a:r>
              <a:rPr kumimoji="0" lang="en-CN" altLang="en-CN" sz="1800" b="0" i="0" u="none" strike="noStrike" cap="none" normalizeH="0" baseline="0" dirty="0">
                <a:ln>
                  <a:noFill/>
                </a:ln>
                <a:solidFill>
                  <a:schemeClr val="tx1"/>
                </a:solidFill>
                <a:effectLst/>
                <a:latin typeface="Arial" panose="020B0604020202020204" pitchFamily="34" charset="0"/>
              </a:rPr>
              <a:t> and </a:t>
            </a:r>
            <a:r>
              <a:rPr kumimoji="0" lang="en-CN" altLang="en-CN" sz="1800" b="1" i="0" u="none" strike="noStrike" cap="none" normalizeH="0" baseline="0" dirty="0">
                <a:ln>
                  <a:noFill/>
                </a:ln>
                <a:solidFill>
                  <a:schemeClr val="tx1"/>
                </a:solidFill>
                <a:effectLst/>
                <a:latin typeface="Arial" panose="020B0604020202020204" pitchFamily="34" charset="0"/>
              </a:rPr>
              <a:t>restaurant attributes</a:t>
            </a:r>
            <a:r>
              <a:rPr kumimoji="0" lang="en-CN" altLang="en-CN" sz="1800" b="0" i="0" u="none" strike="noStrike" cap="none" normalizeH="0" baseline="0" dirty="0">
                <a:ln>
                  <a:noFill/>
                </a:ln>
                <a:solidFill>
                  <a:schemeClr val="tx1"/>
                </a:solidFill>
                <a:effectLst/>
                <a:latin typeface="Arial" panose="020B0604020202020204" pitchFamily="34" charset="0"/>
              </a:rPr>
              <a:t> drive rating patterns across LA.</a:t>
            </a:r>
          </a:p>
        </p:txBody>
      </p:sp>
    </p:spTree>
    <p:extLst>
      <p:ext uri="{BB962C8B-B14F-4D97-AF65-F5344CB8AC3E}">
        <p14:creationId xmlns:p14="http://schemas.microsoft.com/office/powerpoint/2010/main" val="742569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ABFDB8-55DD-0B24-4FA0-C02AE2CD4D5E}"/>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Colorful leaf patterns">
            <a:extLst>
              <a:ext uri="{FF2B5EF4-FFF2-40B4-BE49-F238E27FC236}">
                <a16:creationId xmlns:a16="http://schemas.microsoft.com/office/drawing/2014/main" id="{5007CF82-5688-4F11-1BAE-369558CD5B0D}"/>
              </a:ext>
            </a:extLst>
          </p:cNvPr>
          <p:cNvPicPr>
            <a:picLocks noChangeAspect="1"/>
          </p:cNvPicPr>
          <p:nvPr/>
        </p:nvPicPr>
        <p:blipFill>
          <a:blip r:embed="rId2"/>
          <a:srcRect l="129" t="26948" r="8962"/>
          <a:stretch>
            <a:fillRect/>
          </a:stretch>
        </p:blipFill>
        <p:spPr>
          <a:xfrm>
            <a:off x="20" y="10"/>
            <a:ext cx="12191980" cy="6857990"/>
          </a:xfrm>
          <a:prstGeom prst="rect">
            <a:avLst/>
          </a:prstGeom>
        </p:spPr>
      </p:pic>
      <p:sp>
        <p:nvSpPr>
          <p:cNvPr id="22" name="Rectangle 21">
            <a:extLst>
              <a:ext uri="{FF2B5EF4-FFF2-40B4-BE49-F238E27FC236}">
                <a16:creationId xmlns:a16="http://schemas.microsoft.com/office/drawing/2014/main" id="{1103FDB8-D911-F8F8-F9EC-FB7FF5435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4324"/>
            <a:ext cx="12192000" cy="2573677"/>
          </a:xfrm>
          <a:prstGeom prst="rect">
            <a:avLst/>
          </a:prstGeom>
          <a:gradFill>
            <a:gsLst>
              <a:gs pos="0">
                <a:schemeClr val="bg1">
                  <a:alpha val="0"/>
                </a:schemeClr>
              </a:gs>
              <a:gs pos="46000">
                <a:schemeClr val="bg1">
                  <a:alpha val="17000"/>
                </a:schemeClr>
              </a:gs>
              <a:gs pos="65000">
                <a:schemeClr val="bg1">
                  <a:alpha val="29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6" name="Title 5">
            <a:extLst>
              <a:ext uri="{FF2B5EF4-FFF2-40B4-BE49-F238E27FC236}">
                <a16:creationId xmlns:a16="http://schemas.microsoft.com/office/drawing/2014/main" id="{7B7818A1-6F22-1223-BB1F-E1BD1AD56337}"/>
              </a:ext>
            </a:extLst>
          </p:cNvPr>
          <p:cNvSpPr>
            <a:spLocks noGrp="1"/>
          </p:cNvSpPr>
          <p:nvPr>
            <p:ph type="ctrTitle"/>
          </p:nvPr>
        </p:nvSpPr>
        <p:spPr>
          <a:xfrm>
            <a:off x="362243" y="427368"/>
            <a:ext cx="7983068" cy="974347"/>
          </a:xfrm>
          <a:ln>
            <a:noFill/>
          </a:ln>
        </p:spPr>
        <p:txBody>
          <a:bodyPr anchor="ctr">
            <a:normAutofit/>
          </a:bodyPr>
          <a:lstStyle/>
          <a:p>
            <a:r>
              <a:rPr lang="en-US" dirty="0">
                <a:solidFill>
                  <a:schemeClr val="bg1"/>
                </a:solidFill>
              </a:rPr>
              <a:t>Data Sources</a:t>
            </a:r>
            <a:endParaRPr lang="en-CN" sz="3600" dirty="0">
              <a:solidFill>
                <a:schemeClr val="bg1"/>
              </a:solidFill>
            </a:endParaRPr>
          </a:p>
        </p:txBody>
      </p:sp>
      <p:pic>
        <p:nvPicPr>
          <p:cNvPr id="11" name="Picture 10" descr="A black rectangular table with white text&#10;&#10;AI-generated content may be incorrect.">
            <a:extLst>
              <a:ext uri="{FF2B5EF4-FFF2-40B4-BE49-F238E27FC236}">
                <a16:creationId xmlns:a16="http://schemas.microsoft.com/office/drawing/2014/main" id="{44A58C05-59FE-73CE-30B7-679CB89F95A2}"/>
              </a:ext>
            </a:extLst>
          </p:cNvPr>
          <p:cNvPicPr>
            <a:picLocks noChangeAspect="1"/>
          </p:cNvPicPr>
          <p:nvPr/>
        </p:nvPicPr>
        <p:blipFill>
          <a:blip r:embed="rId3"/>
          <a:stretch>
            <a:fillRect/>
          </a:stretch>
        </p:blipFill>
        <p:spPr>
          <a:xfrm>
            <a:off x="194376" y="1829073"/>
            <a:ext cx="11439605" cy="3429588"/>
          </a:xfrm>
          <a:prstGeom prst="rect">
            <a:avLst/>
          </a:prstGeom>
        </p:spPr>
      </p:pic>
    </p:spTree>
    <p:extLst>
      <p:ext uri="{BB962C8B-B14F-4D97-AF65-F5344CB8AC3E}">
        <p14:creationId xmlns:p14="http://schemas.microsoft.com/office/powerpoint/2010/main" val="1465610354"/>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E105A-8BAA-DCB2-B567-85770E353A44}"/>
            </a:ext>
          </a:extLst>
        </p:cNvPr>
        <p:cNvGrpSpPr/>
        <p:nvPr/>
      </p:nvGrpSpPr>
      <p:grpSpPr>
        <a:xfrm>
          <a:off x="0" y="0"/>
          <a:ext cx="0" cy="0"/>
          <a:chOff x="0" y="0"/>
          <a:chExt cx="0" cy="0"/>
        </a:xfrm>
      </p:grpSpPr>
      <p:pic>
        <p:nvPicPr>
          <p:cNvPr id="4" name="Picture 3" descr="Colorful leaf patterns">
            <a:extLst>
              <a:ext uri="{FF2B5EF4-FFF2-40B4-BE49-F238E27FC236}">
                <a16:creationId xmlns:a16="http://schemas.microsoft.com/office/drawing/2014/main" id="{00F63331-50F2-58D3-5968-2152557E52D5}"/>
              </a:ext>
            </a:extLst>
          </p:cNvPr>
          <p:cNvPicPr>
            <a:picLocks noChangeAspect="1"/>
          </p:cNvPicPr>
          <p:nvPr/>
        </p:nvPicPr>
        <p:blipFill>
          <a:blip r:embed="rId2"/>
          <a:srcRect l="129" t="26948" r="8962"/>
          <a:stretch>
            <a:fillRect/>
          </a:stretch>
        </p:blipFill>
        <p:spPr>
          <a:xfrm>
            <a:off x="20" y="10"/>
            <a:ext cx="12191980" cy="6857990"/>
          </a:xfrm>
          <a:prstGeom prst="rect">
            <a:avLst/>
          </a:prstGeom>
        </p:spPr>
      </p:pic>
      <p:sp>
        <p:nvSpPr>
          <p:cNvPr id="6" name="Title 5">
            <a:extLst>
              <a:ext uri="{FF2B5EF4-FFF2-40B4-BE49-F238E27FC236}">
                <a16:creationId xmlns:a16="http://schemas.microsoft.com/office/drawing/2014/main" id="{57B43C62-6A90-CAE4-4EE0-F97B9FB00AAF}"/>
              </a:ext>
            </a:extLst>
          </p:cNvPr>
          <p:cNvSpPr>
            <a:spLocks noGrp="1"/>
          </p:cNvSpPr>
          <p:nvPr>
            <p:ph type="ctrTitle"/>
          </p:nvPr>
        </p:nvSpPr>
        <p:spPr>
          <a:xfrm>
            <a:off x="230358" y="225631"/>
            <a:ext cx="11731284" cy="974347"/>
          </a:xfrm>
          <a:ln>
            <a:noFill/>
          </a:ln>
        </p:spPr>
        <p:txBody>
          <a:bodyPr anchor="ctr">
            <a:normAutofit/>
          </a:bodyPr>
          <a:lstStyle/>
          <a:p>
            <a:r>
              <a:rPr lang="en-US" sz="4800" dirty="0"/>
              <a:t>Key Drivers of Restaurant Ratings</a:t>
            </a:r>
            <a:endParaRPr lang="en-CN" sz="3200" dirty="0"/>
          </a:p>
        </p:txBody>
      </p:sp>
      <p:pic>
        <p:nvPicPr>
          <p:cNvPr id="7" name="Picture 6">
            <a:extLst>
              <a:ext uri="{FF2B5EF4-FFF2-40B4-BE49-F238E27FC236}">
                <a16:creationId xmlns:a16="http://schemas.microsoft.com/office/drawing/2014/main" id="{116DC63C-710D-638C-8B90-81D9786FDA92}"/>
              </a:ext>
            </a:extLst>
          </p:cNvPr>
          <p:cNvPicPr>
            <a:picLocks noChangeAspect="1"/>
          </p:cNvPicPr>
          <p:nvPr/>
        </p:nvPicPr>
        <p:blipFill>
          <a:blip r:embed="rId3"/>
          <a:stretch>
            <a:fillRect/>
          </a:stretch>
        </p:blipFill>
        <p:spPr>
          <a:xfrm>
            <a:off x="403505" y="2948169"/>
            <a:ext cx="5626887" cy="3360185"/>
          </a:xfrm>
          <a:prstGeom prst="rect">
            <a:avLst/>
          </a:prstGeom>
        </p:spPr>
      </p:pic>
      <p:pic>
        <p:nvPicPr>
          <p:cNvPr id="8" name="Picture 7">
            <a:extLst>
              <a:ext uri="{FF2B5EF4-FFF2-40B4-BE49-F238E27FC236}">
                <a16:creationId xmlns:a16="http://schemas.microsoft.com/office/drawing/2014/main" id="{47D93617-12C8-BAC9-F061-69A37B2C47EC}"/>
              </a:ext>
            </a:extLst>
          </p:cNvPr>
          <p:cNvPicPr>
            <a:picLocks noChangeAspect="1"/>
          </p:cNvPicPr>
          <p:nvPr/>
        </p:nvPicPr>
        <p:blipFill>
          <a:blip r:embed="rId4"/>
          <a:stretch>
            <a:fillRect/>
          </a:stretch>
        </p:blipFill>
        <p:spPr>
          <a:xfrm>
            <a:off x="6433877" y="2803979"/>
            <a:ext cx="5200357" cy="3648563"/>
          </a:xfrm>
          <a:prstGeom prst="rect">
            <a:avLst/>
          </a:prstGeom>
        </p:spPr>
      </p:pic>
      <p:sp>
        <p:nvSpPr>
          <p:cNvPr id="9" name="TextBox 8">
            <a:extLst>
              <a:ext uri="{FF2B5EF4-FFF2-40B4-BE49-F238E27FC236}">
                <a16:creationId xmlns:a16="http://schemas.microsoft.com/office/drawing/2014/main" id="{D859B9EB-7211-6BEA-BBAF-A996E4C2E20F}"/>
              </a:ext>
            </a:extLst>
          </p:cNvPr>
          <p:cNvSpPr txBox="1"/>
          <p:nvPr/>
        </p:nvSpPr>
        <p:spPr>
          <a:xfrm>
            <a:off x="557767" y="6941970"/>
            <a:ext cx="10213397" cy="5159168"/>
          </a:xfrm>
          <a:prstGeom prst="rect">
            <a:avLst/>
          </a:prstGeom>
          <a:noFill/>
        </p:spPr>
        <p:txBody>
          <a:bodyPr wrap="square" rtlCol="0">
            <a:spAutoFit/>
          </a:bodyPr>
          <a:lstStyle/>
          <a:p>
            <a:endParaRPr lang="en-CN" dirty="0"/>
          </a:p>
        </p:txBody>
      </p:sp>
      <p:sp>
        <p:nvSpPr>
          <p:cNvPr id="13" name="Rectangle 4">
            <a:extLst>
              <a:ext uri="{FF2B5EF4-FFF2-40B4-BE49-F238E27FC236}">
                <a16:creationId xmlns:a16="http://schemas.microsoft.com/office/drawing/2014/main" id="{2A91DF0E-E079-112D-6E29-16B0C9A68E12}"/>
              </a:ext>
            </a:extLst>
          </p:cNvPr>
          <p:cNvSpPr>
            <a:spLocks noChangeArrowheads="1"/>
          </p:cNvSpPr>
          <p:nvPr/>
        </p:nvSpPr>
        <p:spPr bwMode="auto">
          <a:xfrm>
            <a:off x="403505" y="1026247"/>
            <a:ext cx="10213397" cy="2239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CN" altLang="en-CN" sz="2400" b="0" i="0" u="none" strike="noStrike" cap="none" normalizeH="0" baseline="0" dirty="0">
                <a:ln>
                  <a:noFill/>
                </a:ln>
                <a:solidFill>
                  <a:schemeClr val="tx1"/>
                </a:solidFill>
                <a:effectLst/>
                <a:latin typeface="Arial" panose="020B0604020202020204" pitchFamily="34" charset="0"/>
              </a:rPr>
              <a:t>Restaurant-level factors are the </a:t>
            </a:r>
            <a:r>
              <a:rPr kumimoji="0" lang="en-CN" altLang="en-CN" sz="2400" b="1" i="0" u="none" strike="noStrike" cap="none" normalizeH="0" baseline="0" dirty="0">
                <a:ln>
                  <a:noFill/>
                </a:ln>
                <a:solidFill>
                  <a:schemeClr val="tx1"/>
                </a:solidFill>
                <a:effectLst/>
                <a:latin typeface="Arial" panose="020B0604020202020204" pitchFamily="34" charset="0"/>
              </a:rPr>
              <a:t>strongest predictors</a:t>
            </a:r>
            <a:r>
              <a:rPr kumimoji="0" lang="en-CN" altLang="en-CN" sz="2400" b="0" i="0" u="none" strike="noStrike" cap="none" normalizeH="0" baseline="0" dirty="0">
                <a:ln>
                  <a:noFill/>
                </a:ln>
                <a:solidFill>
                  <a:schemeClr val="tx1"/>
                </a:solidFill>
                <a:effectLst/>
                <a:latin typeface="Arial" panose="020B0604020202020204" pitchFamily="34" charset="0"/>
              </a:rPr>
              <a:t> of Yelp ratings.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CN" altLang="en-CN" sz="2400" b="0" i="0" u="none" strike="noStrike" cap="none" normalizeH="0" baseline="0" dirty="0">
                <a:ln>
                  <a:noFill/>
                </a:ln>
                <a:solidFill>
                  <a:schemeClr val="tx1"/>
                </a:solidFill>
                <a:effectLst/>
                <a:latin typeface="Arial" panose="020B0604020202020204" pitchFamily="34" charset="0"/>
              </a:rPr>
              <a:t>Higher </a:t>
            </a:r>
            <a:r>
              <a:rPr kumimoji="0" lang="en-CN" altLang="en-CN" sz="2400" b="1" i="0" u="none" strike="noStrike" cap="none" normalizeH="0" baseline="0" dirty="0">
                <a:ln>
                  <a:noFill/>
                </a:ln>
                <a:solidFill>
                  <a:schemeClr val="tx1"/>
                </a:solidFill>
                <a:effectLst/>
                <a:latin typeface="Arial" panose="020B0604020202020204" pitchFamily="34" charset="0"/>
              </a:rPr>
              <a:t>price level</a:t>
            </a:r>
            <a:r>
              <a:rPr kumimoji="0" lang="en-CN" altLang="en-CN" sz="2400" b="0" i="0" u="none" strike="noStrike" cap="none" normalizeH="0" baseline="0" dirty="0">
                <a:ln>
                  <a:noFill/>
                </a:ln>
                <a:solidFill>
                  <a:schemeClr val="tx1"/>
                </a:solidFill>
                <a:effectLst/>
                <a:latin typeface="Arial" panose="020B0604020202020204" pitchFamily="34" charset="0"/>
              </a:rPr>
              <a:t> → higher average ratings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CN" altLang="en-CN" sz="2400" b="0" i="0" u="none" strike="noStrike" cap="none" normalizeH="0" baseline="0" dirty="0">
                <a:ln>
                  <a:noFill/>
                </a:ln>
                <a:solidFill>
                  <a:schemeClr val="tx1"/>
                </a:solidFill>
                <a:effectLst/>
                <a:latin typeface="Arial" panose="020B0604020202020204" pitchFamily="34" charset="0"/>
              </a:rPr>
              <a:t>Higher </a:t>
            </a:r>
            <a:r>
              <a:rPr kumimoji="0" lang="en-CN" altLang="en-CN" sz="2400" b="1" i="0" u="none" strike="noStrike" cap="none" normalizeH="0" baseline="0" dirty="0">
                <a:ln>
                  <a:noFill/>
                </a:ln>
                <a:solidFill>
                  <a:schemeClr val="tx1"/>
                </a:solidFill>
                <a:effectLst/>
                <a:latin typeface="Arial" panose="020B0604020202020204" pitchFamily="34" charset="0"/>
              </a:rPr>
              <a:t>review count</a:t>
            </a:r>
            <a:r>
              <a:rPr kumimoji="0" lang="en-CN" altLang="en-CN" sz="2400" b="0" i="0" u="none" strike="noStrike" cap="none" normalizeH="0" baseline="0" dirty="0">
                <a:ln>
                  <a:noFill/>
                </a:ln>
                <a:solidFill>
                  <a:schemeClr val="tx1"/>
                </a:solidFill>
                <a:effectLst/>
                <a:latin typeface="Arial" panose="020B0604020202020204" pitchFamily="34" charset="0"/>
              </a:rPr>
              <a:t> → higher ratings (popularity/visibility effect)</a:t>
            </a:r>
          </a:p>
          <a:p>
            <a:pPr lvl="1" eaLnBrk="0" fontAlgn="base" hangingPunct="0">
              <a:lnSpc>
                <a:spcPct val="150000"/>
              </a:lnSpc>
              <a:spcBef>
                <a:spcPct val="0"/>
              </a:spcBef>
              <a:spcAft>
                <a:spcPct val="0"/>
              </a:spcAft>
              <a:buFontTx/>
              <a:buChar char="•"/>
            </a:pPr>
            <a:endParaRPr kumimoji="0" lang="en-CN" altLang="en-CN"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7807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9A872-780F-4623-1C3B-6E1CBD89FA30}"/>
            </a:ext>
          </a:extLst>
        </p:cNvPr>
        <p:cNvGrpSpPr/>
        <p:nvPr/>
      </p:nvGrpSpPr>
      <p:grpSpPr>
        <a:xfrm>
          <a:off x="0" y="0"/>
          <a:ext cx="0" cy="0"/>
          <a:chOff x="0" y="0"/>
          <a:chExt cx="0" cy="0"/>
        </a:xfrm>
      </p:grpSpPr>
      <p:pic>
        <p:nvPicPr>
          <p:cNvPr id="4" name="Picture 3" descr="Colorful leaf patterns">
            <a:extLst>
              <a:ext uri="{FF2B5EF4-FFF2-40B4-BE49-F238E27FC236}">
                <a16:creationId xmlns:a16="http://schemas.microsoft.com/office/drawing/2014/main" id="{8983010E-7717-836E-428C-72F4ED468A17}"/>
              </a:ext>
            </a:extLst>
          </p:cNvPr>
          <p:cNvPicPr>
            <a:picLocks noChangeAspect="1"/>
          </p:cNvPicPr>
          <p:nvPr/>
        </p:nvPicPr>
        <p:blipFill>
          <a:blip r:embed="rId2"/>
          <a:srcRect l="129" t="26948" r="8962"/>
          <a:stretch>
            <a:fillRect/>
          </a:stretch>
        </p:blipFill>
        <p:spPr>
          <a:xfrm>
            <a:off x="20" y="-35615"/>
            <a:ext cx="12191980" cy="6857990"/>
          </a:xfrm>
          <a:prstGeom prst="rect">
            <a:avLst/>
          </a:prstGeom>
        </p:spPr>
      </p:pic>
      <p:sp>
        <p:nvSpPr>
          <p:cNvPr id="6" name="Title 5">
            <a:extLst>
              <a:ext uri="{FF2B5EF4-FFF2-40B4-BE49-F238E27FC236}">
                <a16:creationId xmlns:a16="http://schemas.microsoft.com/office/drawing/2014/main" id="{CBC7CB70-7CF2-E136-E7EF-C9A7C641D22E}"/>
              </a:ext>
            </a:extLst>
          </p:cNvPr>
          <p:cNvSpPr>
            <a:spLocks noGrp="1"/>
          </p:cNvSpPr>
          <p:nvPr>
            <p:ph type="ctrTitle"/>
          </p:nvPr>
        </p:nvSpPr>
        <p:spPr>
          <a:xfrm>
            <a:off x="472593" y="142504"/>
            <a:ext cx="7983068" cy="974347"/>
          </a:xfrm>
          <a:ln>
            <a:noFill/>
          </a:ln>
        </p:spPr>
        <p:txBody>
          <a:bodyPr anchor="ctr">
            <a:normAutofit fontScale="90000"/>
          </a:bodyPr>
          <a:lstStyle/>
          <a:p>
            <a:r>
              <a:rPr lang="en-US" dirty="0"/>
              <a:t>Influence of Cuisine Type</a:t>
            </a:r>
            <a:endParaRPr lang="en-CN" sz="3600" dirty="0"/>
          </a:p>
        </p:txBody>
      </p:sp>
      <p:pic>
        <p:nvPicPr>
          <p:cNvPr id="2" name="Picture 1">
            <a:extLst>
              <a:ext uri="{FF2B5EF4-FFF2-40B4-BE49-F238E27FC236}">
                <a16:creationId xmlns:a16="http://schemas.microsoft.com/office/drawing/2014/main" id="{F3510219-3C5C-D631-98EC-0E4D2181C822}"/>
              </a:ext>
            </a:extLst>
          </p:cNvPr>
          <p:cNvPicPr>
            <a:picLocks noChangeAspect="1"/>
          </p:cNvPicPr>
          <p:nvPr/>
        </p:nvPicPr>
        <p:blipFill>
          <a:blip r:embed="rId3"/>
          <a:stretch>
            <a:fillRect/>
          </a:stretch>
        </p:blipFill>
        <p:spPr>
          <a:xfrm>
            <a:off x="472593" y="3259246"/>
            <a:ext cx="5630224" cy="3362178"/>
          </a:xfrm>
          <a:prstGeom prst="rect">
            <a:avLst/>
          </a:prstGeom>
        </p:spPr>
      </p:pic>
      <p:pic>
        <p:nvPicPr>
          <p:cNvPr id="8" name="Picture 7" descr="A screen shot of a computer&#10;&#10;AI-generated content may be incorrect.">
            <a:extLst>
              <a:ext uri="{FF2B5EF4-FFF2-40B4-BE49-F238E27FC236}">
                <a16:creationId xmlns:a16="http://schemas.microsoft.com/office/drawing/2014/main" id="{88D12A8F-EEF6-8187-C2EE-E5DD4D259A3D}"/>
              </a:ext>
            </a:extLst>
          </p:cNvPr>
          <p:cNvPicPr>
            <a:picLocks noChangeAspect="1"/>
          </p:cNvPicPr>
          <p:nvPr/>
        </p:nvPicPr>
        <p:blipFill>
          <a:blip r:embed="rId4"/>
          <a:stretch>
            <a:fillRect/>
          </a:stretch>
        </p:blipFill>
        <p:spPr>
          <a:xfrm>
            <a:off x="6967037" y="3259246"/>
            <a:ext cx="4759186" cy="3225048"/>
          </a:xfrm>
          <a:prstGeom prst="rect">
            <a:avLst/>
          </a:prstGeom>
        </p:spPr>
      </p:pic>
      <p:sp>
        <p:nvSpPr>
          <p:cNvPr id="10" name="TextBox 9">
            <a:extLst>
              <a:ext uri="{FF2B5EF4-FFF2-40B4-BE49-F238E27FC236}">
                <a16:creationId xmlns:a16="http://schemas.microsoft.com/office/drawing/2014/main" id="{DAAA5E4F-59F0-2005-765E-A7F97F733CE9}"/>
              </a:ext>
            </a:extLst>
          </p:cNvPr>
          <p:cNvSpPr txBox="1"/>
          <p:nvPr/>
        </p:nvSpPr>
        <p:spPr>
          <a:xfrm>
            <a:off x="550906" y="965321"/>
            <a:ext cx="11641094" cy="2215991"/>
          </a:xfrm>
          <a:prstGeom prst="rect">
            <a:avLst/>
          </a:prstGeom>
          <a:noFill/>
        </p:spPr>
        <p:txBody>
          <a:bodyPr wrap="square">
            <a:spAutoFit/>
          </a:bodyPr>
          <a:lstStyle/>
          <a:p>
            <a:pPr marL="285750" indent="-285750">
              <a:buFont typeface="Arial" panose="020B0604020202020204" pitchFamily="34" charset="0"/>
              <a:buChar char="•"/>
            </a:pPr>
            <a:r>
              <a:rPr lang="en-US" sz="2300" dirty="0">
                <a:effectLst/>
                <a:latin typeface="Helvetica Neue" panose="02000503000000020004" pitchFamily="2" charset="0"/>
              </a:rPr>
              <a:t>Top cuisines like </a:t>
            </a:r>
            <a:r>
              <a:rPr lang="en-US" sz="2300" i="1" dirty="0">
                <a:effectLst/>
                <a:latin typeface="Helvetica Neue" panose="02000503000000020004" pitchFamily="2" charset="0"/>
              </a:rPr>
              <a:t>Pop-Up Restaurants, Tuscan, Gelato, Laotian, Ethiopian</a:t>
            </a:r>
            <a:r>
              <a:rPr lang="en-US" sz="2300" dirty="0">
                <a:effectLst/>
                <a:latin typeface="Helvetica Neue" panose="02000503000000020004" pitchFamily="2" charset="0"/>
              </a:rPr>
              <a:t> consistently have ratings between 4.5–5</a:t>
            </a:r>
          </a:p>
          <a:p>
            <a:pPr marL="285750" indent="-285750">
              <a:buFont typeface="Arial" panose="020B0604020202020204" pitchFamily="34" charset="0"/>
              <a:buChar char="•"/>
            </a:pPr>
            <a:r>
              <a:rPr lang="en-US" sz="2300" dirty="0">
                <a:effectLst/>
                <a:latin typeface="Helvetica Neue" panose="02000503000000020004" pitchFamily="2" charset="0"/>
              </a:rPr>
              <a:t>Several cuisine dummies are among the highest positive or negative coefficients and cuisine-driven effects remain strong even after controlling for price &amp; visibility</a:t>
            </a:r>
          </a:p>
          <a:p>
            <a:pPr marL="285750" indent="-285750">
              <a:buFont typeface="Arial" panose="020B0604020202020204" pitchFamily="34" charset="0"/>
              <a:buChar char="•"/>
            </a:pPr>
            <a:r>
              <a:rPr lang="en-US" sz="2300" dirty="0">
                <a:effectLst/>
                <a:latin typeface="Helvetica Neue" panose="02000503000000020004" pitchFamily="2" charset="0"/>
              </a:rPr>
              <a:t>Customer preferences vary significantly by cuisine—certain cuisines systematically receive higher ratings across LA</a:t>
            </a:r>
          </a:p>
        </p:txBody>
      </p:sp>
    </p:spTree>
    <p:extLst>
      <p:ext uri="{BB962C8B-B14F-4D97-AF65-F5344CB8AC3E}">
        <p14:creationId xmlns:p14="http://schemas.microsoft.com/office/powerpoint/2010/main" val="2470017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733BD-57D3-6136-9A85-5EA90CA3D85D}"/>
            </a:ext>
          </a:extLst>
        </p:cNvPr>
        <p:cNvGrpSpPr/>
        <p:nvPr/>
      </p:nvGrpSpPr>
      <p:grpSpPr>
        <a:xfrm>
          <a:off x="0" y="0"/>
          <a:ext cx="0" cy="0"/>
          <a:chOff x="0" y="0"/>
          <a:chExt cx="0" cy="0"/>
        </a:xfrm>
      </p:grpSpPr>
      <p:pic>
        <p:nvPicPr>
          <p:cNvPr id="4" name="Picture 3" descr="Colorful leaf patterns">
            <a:extLst>
              <a:ext uri="{FF2B5EF4-FFF2-40B4-BE49-F238E27FC236}">
                <a16:creationId xmlns:a16="http://schemas.microsoft.com/office/drawing/2014/main" id="{1FCFA0C0-17FA-7DC8-65DA-F7DCAAB87197}"/>
              </a:ext>
            </a:extLst>
          </p:cNvPr>
          <p:cNvPicPr>
            <a:picLocks noChangeAspect="1"/>
          </p:cNvPicPr>
          <p:nvPr/>
        </p:nvPicPr>
        <p:blipFill>
          <a:blip r:embed="rId2"/>
          <a:srcRect l="129" t="26948" r="8962"/>
          <a:stretch>
            <a:fillRect/>
          </a:stretch>
        </p:blipFill>
        <p:spPr>
          <a:xfrm>
            <a:off x="20" y="10"/>
            <a:ext cx="12191980" cy="6857990"/>
          </a:xfrm>
          <a:prstGeom prst="rect">
            <a:avLst/>
          </a:prstGeom>
        </p:spPr>
      </p:pic>
      <p:sp>
        <p:nvSpPr>
          <p:cNvPr id="6" name="Title 5">
            <a:extLst>
              <a:ext uri="{FF2B5EF4-FFF2-40B4-BE49-F238E27FC236}">
                <a16:creationId xmlns:a16="http://schemas.microsoft.com/office/drawing/2014/main" id="{79BE115A-482B-13A0-4F30-44920141E697}"/>
              </a:ext>
            </a:extLst>
          </p:cNvPr>
          <p:cNvSpPr>
            <a:spLocks noGrp="1"/>
          </p:cNvSpPr>
          <p:nvPr>
            <p:ph type="ctrTitle"/>
          </p:nvPr>
        </p:nvSpPr>
        <p:spPr>
          <a:xfrm>
            <a:off x="448072" y="82967"/>
            <a:ext cx="11581631" cy="974347"/>
          </a:xfrm>
          <a:ln>
            <a:noFill/>
          </a:ln>
        </p:spPr>
        <p:txBody>
          <a:bodyPr anchor="ctr">
            <a:noAutofit/>
          </a:bodyPr>
          <a:lstStyle/>
          <a:p>
            <a:r>
              <a:rPr lang="en-US" sz="3600" dirty="0"/>
              <a:t>ZIP-Level Aggregation Reveals Stronger Patterns</a:t>
            </a:r>
            <a:endParaRPr lang="en-CN" sz="3600" dirty="0"/>
          </a:p>
        </p:txBody>
      </p:sp>
      <p:pic>
        <p:nvPicPr>
          <p:cNvPr id="3" name="Picture 2" descr="A black screen with white text&#10;&#10;AI-generated content may be incorrect.">
            <a:extLst>
              <a:ext uri="{FF2B5EF4-FFF2-40B4-BE49-F238E27FC236}">
                <a16:creationId xmlns:a16="http://schemas.microsoft.com/office/drawing/2014/main" id="{73BB0B73-5D40-6DE4-9C20-BCEF2EA9C06D}"/>
              </a:ext>
            </a:extLst>
          </p:cNvPr>
          <p:cNvPicPr>
            <a:picLocks noChangeAspect="1"/>
          </p:cNvPicPr>
          <p:nvPr/>
        </p:nvPicPr>
        <p:blipFill>
          <a:blip r:embed="rId3"/>
          <a:stretch>
            <a:fillRect/>
          </a:stretch>
        </p:blipFill>
        <p:spPr>
          <a:xfrm>
            <a:off x="448072" y="1057314"/>
            <a:ext cx="3631559" cy="1509749"/>
          </a:xfrm>
          <a:prstGeom prst="rect">
            <a:avLst/>
          </a:prstGeom>
        </p:spPr>
      </p:pic>
      <p:pic>
        <p:nvPicPr>
          <p:cNvPr id="5" name="Picture 4">
            <a:extLst>
              <a:ext uri="{FF2B5EF4-FFF2-40B4-BE49-F238E27FC236}">
                <a16:creationId xmlns:a16="http://schemas.microsoft.com/office/drawing/2014/main" id="{6B98CA7F-906A-CAB8-AFF9-C89C16EAE215}"/>
              </a:ext>
            </a:extLst>
          </p:cNvPr>
          <p:cNvPicPr>
            <a:picLocks noChangeAspect="1"/>
          </p:cNvPicPr>
          <p:nvPr/>
        </p:nvPicPr>
        <p:blipFill>
          <a:blip r:embed="rId4"/>
          <a:stretch>
            <a:fillRect/>
          </a:stretch>
        </p:blipFill>
        <p:spPr>
          <a:xfrm>
            <a:off x="4527683" y="1057313"/>
            <a:ext cx="3886206" cy="1509749"/>
          </a:xfrm>
          <a:prstGeom prst="rect">
            <a:avLst/>
          </a:prstGeom>
        </p:spPr>
      </p:pic>
      <p:pic>
        <p:nvPicPr>
          <p:cNvPr id="7" name="Picture 6">
            <a:extLst>
              <a:ext uri="{FF2B5EF4-FFF2-40B4-BE49-F238E27FC236}">
                <a16:creationId xmlns:a16="http://schemas.microsoft.com/office/drawing/2014/main" id="{0EAA675D-C453-2638-2AA3-533C3A50D04D}"/>
              </a:ext>
            </a:extLst>
          </p:cNvPr>
          <p:cNvPicPr>
            <a:picLocks noChangeAspect="1"/>
          </p:cNvPicPr>
          <p:nvPr/>
        </p:nvPicPr>
        <p:blipFill>
          <a:blip r:embed="rId5"/>
          <a:stretch>
            <a:fillRect/>
          </a:stretch>
        </p:blipFill>
        <p:spPr>
          <a:xfrm>
            <a:off x="448072" y="2710235"/>
            <a:ext cx="3302532" cy="2048406"/>
          </a:xfrm>
          <a:prstGeom prst="rect">
            <a:avLst/>
          </a:prstGeom>
        </p:spPr>
      </p:pic>
      <p:pic>
        <p:nvPicPr>
          <p:cNvPr id="8" name="Picture 7">
            <a:extLst>
              <a:ext uri="{FF2B5EF4-FFF2-40B4-BE49-F238E27FC236}">
                <a16:creationId xmlns:a16="http://schemas.microsoft.com/office/drawing/2014/main" id="{FC0EF712-68D7-372E-8B85-CEE5DE4B11B6}"/>
              </a:ext>
            </a:extLst>
          </p:cNvPr>
          <p:cNvPicPr>
            <a:picLocks noChangeAspect="1"/>
          </p:cNvPicPr>
          <p:nvPr/>
        </p:nvPicPr>
        <p:blipFill>
          <a:blip r:embed="rId6"/>
          <a:stretch>
            <a:fillRect/>
          </a:stretch>
        </p:blipFill>
        <p:spPr>
          <a:xfrm>
            <a:off x="3908704" y="2734435"/>
            <a:ext cx="3302533" cy="2048407"/>
          </a:xfrm>
          <a:prstGeom prst="rect">
            <a:avLst/>
          </a:prstGeom>
        </p:spPr>
      </p:pic>
      <p:pic>
        <p:nvPicPr>
          <p:cNvPr id="9" name="Picture 8">
            <a:extLst>
              <a:ext uri="{FF2B5EF4-FFF2-40B4-BE49-F238E27FC236}">
                <a16:creationId xmlns:a16="http://schemas.microsoft.com/office/drawing/2014/main" id="{45CFEF2B-3B4B-78A7-64CF-E86C3C84894B}"/>
              </a:ext>
            </a:extLst>
          </p:cNvPr>
          <p:cNvPicPr>
            <a:picLocks noChangeAspect="1"/>
          </p:cNvPicPr>
          <p:nvPr/>
        </p:nvPicPr>
        <p:blipFill>
          <a:blip r:embed="rId7"/>
          <a:stretch>
            <a:fillRect/>
          </a:stretch>
        </p:blipFill>
        <p:spPr>
          <a:xfrm>
            <a:off x="448072" y="4776483"/>
            <a:ext cx="3302532" cy="2048406"/>
          </a:xfrm>
          <a:prstGeom prst="rect">
            <a:avLst/>
          </a:prstGeom>
        </p:spPr>
      </p:pic>
      <p:pic>
        <p:nvPicPr>
          <p:cNvPr id="10" name="Picture 9">
            <a:extLst>
              <a:ext uri="{FF2B5EF4-FFF2-40B4-BE49-F238E27FC236}">
                <a16:creationId xmlns:a16="http://schemas.microsoft.com/office/drawing/2014/main" id="{BDB191FF-D875-8564-0459-61C54143D0F4}"/>
              </a:ext>
            </a:extLst>
          </p:cNvPr>
          <p:cNvPicPr>
            <a:picLocks noChangeAspect="1"/>
          </p:cNvPicPr>
          <p:nvPr/>
        </p:nvPicPr>
        <p:blipFill>
          <a:blip r:embed="rId8"/>
          <a:stretch>
            <a:fillRect/>
          </a:stretch>
        </p:blipFill>
        <p:spPr>
          <a:xfrm>
            <a:off x="3908704" y="4758641"/>
            <a:ext cx="3302533" cy="2048407"/>
          </a:xfrm>
          <a:prstGeom prst="rect">
            <a:avLst/>
          </a:prstGeom>
        </p:spPr>
      </p:pic>
      <p:pic>
        <p:nvPicPr>
          <p:cNvPr id="11" name="Picture 10">
            <a:extLst>
              <a:ext uri="{FF2B5EF4-FFF2-40B4-BE49-F238E27FC236}">
                <a16:creationId xmlns:a16="http://schemas.microsoft.com/office/drawing/2014/main" id="{E2318735-292D-EFD6-2331-A47BF46C6ADD}"/>
              </a:ext>
            </a:extLst>
          </p:cNvPr>
          <p:cNvPicPr>
            <a:picLocks noChangeAspect="1"/>
          </p:cNvPicPr>
          <p:nvPr/>
        </p:nvPicPr>
        <p:blipFill>
          <a:blip r:embed="rId9"/>
          <a:stretch>
            <a:fillRect/>
          </a:stretch>
        </p:blipFill>
        <p:spPr>
          <a:xfrm>
            <a:off x="7536268" y="2734435"/>
            <a:ext cx="4330700" cy="3746500"/>
          </a:xfrm>
          <a:prstGeom prst="rect">
            <a:avLst/>
          </a:prstGeom>
        </p:spPr>
      </p:pic>
    </p:spTree>
    <p:extLst>
      <p:ext uri="{BB962C8B-B14F-4D97-AF65-F5344CB8AC3E}">
        <p14:creationId xmlns:p14="http://schemas.microsoft.com/office/powerpoint/2010/main" val="4105093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0BAEDC-9747-23A0-B025-FD996D36B415}"/>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E142BE9F-FE56-DBB4-9E87-CC07C8807DA2}"/>
              </a:ext>
            </a:extLst>
          </p:cNvPr>
          <p:cNvSpPr>
            <a:spLocks noGrp="1"/>
          </p:cNvSpPr>
          <p:nvPr>
            <p:ph type="ctrTitle"/>
          </p:nvPr>
        </p:nvSpPr>
        <p:spPr>
          <a:xfrm>
            <a:off x="704087" y="909637"/>
            <a:ext cx="4800600" cy="1307592"/>
          </a:xfrm>
        </p:spPr>
        <p:txBody>
          <a:bodyPr vert="horz" lIns="91440" tIns="45720" rIns="91440" bIns="45720" rtlCol="0" anchor="t">
            <a:normAutofit/>
          </a:bodyPr>
          <a:lstStyle/>
          <a:p>
            <a:r>
              <a:rPr lang="en-US" sz="4000"/>
              <a:t>Summary</a:t>
            </a:r>
          </a:p>
        </p:txBody>
      </p:sp>
      <p:cxnSp>
        <p:nvCxnSpPr>
          <p:cNvPr id="17" name="Straight Connector 16">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6451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A37CA9F-967E-7D76-9475-15423F2435D0}"/>
              </a:ext>
            </a:extLst>
          </p:cNvPr>
          <p:cNvSpPr txBox="1"/>
          <p:nvPr/>
        </p:nvSpPr>
        <p:spPr>
          <a:xfrm>
            <a:off x="704089" y="1633538"/>
            <a:ext cx="4800600" cy="4328350"/>
          </a:xfrm>
          <a:prstGeom prst="rect">
            <a:avLst/>
          </a:prstGeom>
        </p:spPr>
        <p:txBody>
          <a:bodyPr vert="horz" lIns="91440" tIns="45720" rIns="91440" bIns="45720" rtlCol="0">
            <a:normAutofit lnSpcReduction="10000"/>
          </a:bodyPr>
          <a:lstStyle/>
          <a:p>
            <a:pPr>
              <a:spcAft>
                <a:spcPts val="600"/>
              </a:spcAft>
            </a:pPr>
            <a:r>
              <a:rPr lang="en-US" dirty="0"/>
              <a:t>Restaurant ratings in Los Angeles are primarily driven by restaurant-level factors such as price level, popularity, and cuisine type, as demonstrated by feature importance plots and correlation matrices. Neighborhood demographic variables show minimal influence at the individual restaurant level, but become meaningful at the ZIP-code level, where diversity and restaurant density moderately predict higher average ratings. Geographic visualizations reveal clear spatial clustering, with several LA regions consistently outperforming others in dining quality. Overall, the analysis shows that both micro-level restaurant characteristics and macro-level neighborhood environments contribute to restaurant performance.</a:t>
            </a:r>
          </a:p>
        </p:txBody>
      </p:sp>
      <p:cxnSp>
        <p:nvCxnSpPr>
          <p:cNvPr id="19" name="Straight Connector 18">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464515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Colorful leaf patterns">
            <a:extLst>
              <a:ext uri="{FF2B5EF4-FFF2-40B4-BE49-F238E27FC236}">
                <a16:creationId xmlns:a16="http://schemas.microsoft.com/office/drawing/2014/main" id="{6A10AFC7-18DE-56A6-8FF8-1A8F32F8208C}"/>
              </a:ext>
            </a:extLst>
          </p:cNvPr>
          <p:cNvPicPr>
            <a:picLocks noChangeAspect="1"/>
          </p:cNvPicPr>
          <p:nvPr/>
        </p:nvPicPr>
        <p:blipFill>
          <a:blip r:embed="rId2"/>
          <a:srcRect l="14737" r="23570" b="1"/>
          <a:stretch>
            <a:fillRect/>
          </a:stretch>
        </p:blipFill>
        <p:spPr>
          <a:xfrm>
            <a:off x="6147816" y="10"/>
            <a:ext cx="6044184" cy="6857990"/>
          </a:xfrm>
          <a:prstGeom prst="rect">
            <a:avLst/>
          </a:prstGeom>
        </p:spPr>
      </p:pic>
    </p:spTree>
    <p:extLst>
      <p:ext uri="{BB962C8B-B14F-4D97-AF65-F5344CB8AC3E}">
        <p14:creationId xmlns:p14="http://schemas.microsoft.com/office/powerpoint/2010/main" val="1824039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A3D2A8-CC03-EE52-B392-A9C7D13F2ABC}"/>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E38B894-4608-AD65-2552-BEEF59C9BA55}"/>
              </a:ext>
            </a:extLst>
          </p:cNvPr>
          <p:cNvSpPr>
            <a:spLocks noGrp="1"/>
          </p:cNvSpPr>
          <p:nvPr>
            <p:ph type="ctrTitle"/>
          </p:nvPr>
        </p:nvSpPr>
        <p:spPr>
          <a:xfrm>
            <a:off x="4866968" y="914400"/>
            <a:ext cx="6627924" cy="1307592"/>
          </a:xfrm>
        </p:spPr>
        <p:txBody>
          <a:bodyPr vert="horz" lIns="91440" tIns="45720" rIns="91440" bIns="45720" rtlCol="0" anchor="t">
            <a:normAutofit/>
          </a:bodyPr>
          <a:lstStyle/>
          <a:p>
            <a:r>
              <a:rPr lang="en-US" sz="4800" b="1" dirty="0"/>
              <a:t>CHALLENAGEs</a:t>
            </a:r>
          </a:p>
        </p:txBody>
      </p:sp>
      <p:pic>
        <p:nvPicPr>
          <p:cNvPr id="4" name="Picture 3" descr="Colorful leaf patterns">
            <a:extLst>
              <a:ext uri="{FF2B5EF4-FFF2-40B4-BE49-F238E27FC236}">
                <a16:creationId xmlns:a16="http://schemas.microsoft.com/office/drawing/2014/main" id="{CFFC0B67-7844-B93F-42D0-FFFF90B90EF3}"/>
              </a:ext>
            </a:extLst>
          </p:cNvPr>
          <p:cNvPicPr>
            <a:picLocks noChangeAspect="1"/>
          </p:cNvPicPr>
          <p:nvPr/>
        </p:nvPicPr>
        <p:blipFill>
          <a:blip r:embed="rId2"/>
          <a:srcRect l="24923" r="32256"/>
          <a:stretch>
            <a:fillRect/>
          </a:stretch>
        </p:blipFill>
        <p:spPr>
          <a:xfrm>
            <a:off x="20" y="-17929"/>
            <a:ext cx="4206220" cy="6875929"/>
          </a:xfrm>
          <a:prstGeom prst="rect">
            <a:avLst/>
          </a:prstGeom>
        </p:spPr>
      </p:pic>
      <p:cxnSp>
        <p:nvCxnSpPr>
          <p:cNvPr id="23" name="Straight Connector 22">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25B972D-DADA-D484-11BE-BA77CB877422}"/>
              </a:ext>
            </a:extLst>
          </p:cNvPr>
          <p:cNvSpPr txBox="1"/>
          <p:nvPr/>
        </p:nvSpPr>
        <p:spPr>
          <a:xfrm>
            <a:off x="4866968" y="2221992"/>
            <a:ext cx="6948980" cy="3098149"/>
          </a:xfrm>
          <a:prstGeom prst="rect">
            <a:avLst/>
          </a:prstGeom>
        </p:spPr>
        <p:txBody>
          <a:bodyPr vert="horz" lIns="91440" tIns="45720" rIns="91440" bIns="45720" rtlCol="0">
            <a:normAutofit/>
          </a:bodyPr>
          <a:lstStyle/>
          <a:p>
            <a:pPr>
              <a:lnSpc>
                <a:spcPct val="110000"/>
              </a:lnSpc>
              <a:spcAft>
                <a:spcPts val="600"/>
              </a:spcAft>
            </a:pPr>
            <a:r>
              <a:rPr lang="en-US" sz="2400" b="1" dirty="0"/>
              <a:t>• Yelp categories needed extensive cleaning.</a:t>
            </a:r>
          </a:p>
          <a:p>
            <a:pPr>
              <a:lnSpc>
                <a:spcPct val="110000"/>
              </a:lnSpc>
              <a:spcAft>
                <a:spcPts val="600"/>
              </a:spcAft>
            </a:pPr>
            <a:r>
              <a:rPr lang="en-US" sz="2400" b="1" dirty="0"/>
              <a:t>• City name inconsistencies -&gt; </a:t>
            </a:r>
            <a:r>
              <a:rPr lang="en-US" sz="2400" b="1" dirty="0" err="1"/>
              <a:t>NaN</a:t>
            </a:r>
            <a:r>
              <a:rPr lang="en-US" sz="2400" b="1" dirty="0"/>
              <a:t> issues during merging.</a:t>
            </a:r>
          </a:p>
          <a:p>
            <a:pPr>
              <a:lnSpc>
                <a:spcPct val="110000"/>
              </a:lnSpc>
              <a:spcAft>
                <a:spcPts val="600"/>
              </a:spcAft>
            </a:pPr>
            <a:r>
              <a:rPr lang="en-US" sz="2400" b="1" dirty="0"/>
              <a:t>• Spatial reasoning required for ZIP/city analysis.</a:t>
            </a:r>
          </a:p>
          <a:p>
            <a:pPr>
              <a:lnSpc>
                <a:spcPct val="110000"/>
              </a:lnSpc>
              <a:spcAft>
                <a:spcPts val="600"/>
              </a:spcAft>
            </a:pPr>
            <a:r>
              <a:rPr lang="en-US" sz="2400" b="1" dirty="0"/>
              <a:t>• Large dataset required careful preprocessing.</a:t>
            </a:r>
          </a:p>
        </p:txBody>
      </p:sp>
      <p:cxnSp>
        <p:nvCxnSpPr>
          <p:cNvPr id="19" name="Straight Connector 18">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4243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07B5-E52C-220A-28D7-C97226EE14CA}"/>
            </a:ext>
          </a:extLst>
        </p:cNvPr>
        <p:cNvGrpSpPr/>
        <p:nvPr/>
      </p:nvGrpSpPr>
      <p:grpSpPr>
        <a:xfrm>
          <a:off x="0" y="0"/>
          <a:ext cx="0" cy="0"/>
          <a:chOff x="0" y="0"/>
          <a:chExt cx="0" cy="0"/>
        </a:xfrm>
      </p:grpSpPr>
      <p:pic>
        <p:nvPicPr>
          <p:cNvPr id="4" name="Picture 3" descr="Colorful leaf patterns">
            <a:extLst>
              <a:ext uri="{FF2B5EF4-FFF2-40B4-BE49-F238E27FC236}">
                <a16:creationId xmlns:a16="http://schemas.microsoft.com/office/drawing/2014/main" id="{EE9089EE-0F56-5246-829D-4E781553EFB5}"/>
              </a:ext>
            </a:extLst>
          </p:cNvPr>
          <p:cNvPicPr>
            <a:picLocks noChangeAspect="1"/>
          </p:cNvPicPr>
          <p:nvPr/>
        </p:nvPicPr>
        <p:blipFill>
          <a:blip r:embed="rId2"/>
          <a:srcRect l="129" t="26948" r="8962"/>
          <a:stretch>
            <a:fillRect/>
          </a:stretch>
        </p:blipFill>
        <p:spPr>
          <a:xfrm>
            <a:off x="20" y="10"/>
            <a:ext cx="12191980" cy="6857990"/>
          </a:xfrm>
          <a:prstGeom prst="rect">
            <a:avLst/>
          </a:prstGeom>
        </p:spPr>
      </p:pic>
      <p:sp>
        <p:nvSpPr>
          <p:cNvPr id="6" name="Title 5">
            <a:extLst>
              <a:ext uri="{FF2B5EF4-FFF2-40B4-BE49-F238E27FC236}">
                <a16:creationId xmlns:a16="http://schemas.microsoft.com/office/drawing/2014/main" id="{F7B6618D-1E18-0C14-D1FE-2537F02A8C85}"/>
              </a:ext>
            </a:extLst>
          </p:cNvPr>
          <p:cNvSpPr>
            <a:spLocks noGrp="1"/>
          </p:cNvSpPr>
          <p:nvPr>
            <p:ph type="ctrTitle"/>
          </p:nvPr>
        </p:nvSpPr>
        <p:spPr>
          <a:xfrm>
            <a:off x="3909730" y="2743200"/>
            <a:ext cx="4586295" cy="974347"/>
          </a:xfrm>
          <a:ln>
            <a:noFill/>
          </a:ln>
        </p:spPr>
        <p:txBody>
          <a:bodyPr anchor="ctr">
            <a:normAutofit/>
          </a:bodyPr>
          <a:lstStyle/>
          <a:p>
            <a:r>
              <a:rPr lang="en-US" dirty="0"/>
              <a:t>Thank you!</a:t>
            </a:r>
            <a:endParaRPr lang="en-CN" sz="3600" dirty="0"/>
          </a:p>
        </p:txBody>
      </p:sp>
    </p:spTree>
    <p:extLst>
      <p:ext uri="{BB962C8B-B14F-4D97-AF65-F5344CB8AC3E}">
        <p14:creationId xmlns:p14="http://schemas.microsoft.com/office/powerpoint/2010/main" val="3693631514"/>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140</TotalTime>
  <Words>330</Words>
  <Application>Microsoft Macintosh PowerPoint</Application>
  <PresentationFormat>Widescreen</PresentationFormat>
  <Paragraphs>28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Calisto MT</vt:lpstr>
      <vt:lpstr>Helvetica Neue</vt:lpstr>
      <vt:lpstr>Univers Condensed</vt:lpstr>
      <vt:lpstr>ChronicleVTI</vt:lpstr>
      <vt:lpstr>Analyzing the Factors Influencing Restaurant Ratings in Los Angeles </vt:lpstr>
      <vt:lpstr>INTRODUCTION</vt:lpstr>
      <vt:lpstr>Data Sources</vt:lpstr>
      <vt:lpstr>Key Drivers of Restaurant Ratings</vt:lpstr>
      <vt:lpstr>Influence of Cuisine Type</vt:lpstr>
      <vt:lpstr>ZIP-Level Aggregation Reveals Stronger Patterns</vt:lpstr>
      <vt:lpstr>Summary</vt:lpstr>
      <vt:lpstr>CHALLENAGEs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Lauren Yu</dc:creator>
  <cp:lastModifiedBy>Lauren Yu</cp:lastModifiedBy>
  <cp:revision>8</cp:revision>
  <dcterms:created xsi:type="dcterms:W3CDTF">2025-11-25T09:04:31Z</dcterms:created>
  <dcterms:modified xsi:type="dcterms:W3CDTF">2025-11-25T11:24:41Z</dcterms:modified>
</cp:coreProperties>
</file>